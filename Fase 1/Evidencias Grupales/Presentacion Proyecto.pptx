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embeddedFontLst>
    <p:embeddedFont>
      <p:font typeface="Roboto Condensed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  <p:embeddedFont>
      <p:font typeface="Barlow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/DgTjMNLF5DSJ1TUPs5QLTBNS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325E98-A941-47EA-B277-20C3A44E9DC7}">
  <a:tblStyle styleId="{4A325E98-A941-47EA-B277-20C3A44E9DC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Condensed-bold.fntdata"/><Relationship Id="rId27" Type="http://schemas.openxmlformats.org/officeDocument/2006/relationships/font" Target="fonts/RobotoCondense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Condense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Condensed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schemas.openxmlformats.org/officeDocument/2006/relationships/font" Target="fonts/Barlow-regular.fnt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37" Type="http://schemas.openxmlformats.org/officeDocument/2006/relationships/font" Target="fonts/Barlow-italic.fntdata"/><Relationship Id="rId14" Type="http://schemas.openxmlformats.org/officeDocument/2006/relationships/slide" Target="slides/slide9.xml"/><Relationship Id="rId36" Type="http://schemas.openxmlformats.org/officeDocument/2006/relationships/font" Target="fonts/Barlow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Barlow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88f566c8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f88f566c8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f88f566c8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88f566c81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g3f88f566c81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3f88f566c81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88f566c81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f88f566c81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f88f566c81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8f566c81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f88f566c81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88f566c81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8f566c81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88f566c81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88f566c81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8f566c81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88f566c81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88f566c81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8f566c81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88f566c81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88f566c81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9371336a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89371336a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89371336a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9371336a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89371336a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89371336a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89371336a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89371336a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89371336a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9371336a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f89371336a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89371336a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89371336a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f89371336a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89371336a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89371336a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f89371336a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89371336a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9371336a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f89371336a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89371336a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40fa612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f40fa612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40fa612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40c3d1ae8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f40c3d1ae8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40c3d1ae8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83913c82_0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883913c82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83913c82_0_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f883913c82_0_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883913c82_0_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83913c82_0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f883913c82_0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883913c82_0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883913c82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3f883913c82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883913c82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88f566c81_0_7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3f88f566c81_0_7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g3f88f566c81_0_7"/>
          <p:cNvGrpSpPr/>
          <p:nvPr/>
        </p:nvGrpSpPr>
        <p:grpSpPr>
          <a:xfrm>
            <a:off x="3977640" y="777240"/>
            <a:ext cx="1188600" cy="1188600"/>
            <a:chOff x="3977640" y="777240"/>
            <a:chExt cx="1188600" cy="1188600"/>
          </a:xfrm>
        </p:grpSpPr>
        <p:sp>
          <p:nvSpPr>
            <p:cNvPr id="15" name="Google Shape;15;g3f88f566c81_0_7"/>
            <p:cNvSpPr/>
            <p:nvPr/>
          </p:nvSpPr>
          <p:spPr>
            <a:xfrm>
              <a:off x="3977640" y="777240"/>
              <a:ext cx="1188600" cy="11886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6" name="Google Shape;16;g3f88f566c81_0_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06240" y="1005840"/>
              <a:ext cx="731520" cy="7315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" name="Google Shape;17;g3f88f566c81_0_7"/>
          <p:cNvSpPr/>
          <p:nvPr/>
        </p:nvSpPr>
        <p:spPr>
          <a:xfrm>
            <a:off x="731520" y="210312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FILA FÁCIL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f88f566c81_0_7"/>
          <p:cNvSpPr/>
          <p:nvPr/>
        </p:nvSpPr>
        <p:spPr>
          <a:xfrm>
            <a:off x="1097280" y="2697480"/>
            <a:ext cx="694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Aplicación móvil para optimizar el tiempo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de compra en supermercados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f88f566c81_0_7"/>
          <p:cNvSpPr/>
          <p:nvPr/>
        </p:nvSpPr>
        <p:spPr>
          <a:xfrm>
            <a:off x="1371600" y="356616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Capstone  ·  PTY4614  ·  Ingeniería en Informática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f88f566c81_0_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f88f566c81_0_7"/>
          <p:cNvSpPr/>
          <p:nvPr/>
        </p:nvSpPr>
        <p:spPr>
          <a:xfrm>
            <a:off x="8979250" y="0"/>
            <a:ext cx="1647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88f566c81_0_22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f88f566c81_0_22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f88f566c81_0_22"/>
          <p:cNvSpPr/>
          <p:nvPr/>
        </p:nvSpPr>
        <p:spPr>
          <a:xfrm>
            <a:off x="457200" y="10058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Las personas pierden mucho tiempo al ir al supermercado. Deben llegar muy temprano o depender de la suerte para no demorarse más de 20 minutos en una fila que parece no avanzar.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f88f566c81_0_22"/>
          <p:cNvSpPr/>
          <p:nvPr/>
        </p:nvSpPr>
        <p:spPr>
          <a:xfrm>
            <a:off x="411480" y="1691640"/>
            <a:ext cx="2743200" cy="288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8f566c81_0_22"/>
          <p:cNvSpPr/>
          <p:nvPr/>
        </p:nvSpPr>
        <p:spPr>
          <a:xfrm>
            <a:off x="1463040" y="192024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g3f88f566c81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340" y="2029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3f88f566c81_0_22"/>
          <p:cNvSpPr/>
          <p:nvPr/>
        </p:nvSpPr>
        <p:spPr>
          <a:xfrm>
            <a:off x="548640" y="26974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Tiempo perdido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f88f566c81_0_22"/>
          <p:cNvSpPr/>
          <p:nvPr/>
        </p:nvSpPr>
        <p:spPr>
          <a:xfrm>
            <a:off x="594360" y="3108960"/>
            <a:ext cx="2377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Hay que ir muy temprano o tener suerte para no esperar más de 20 minutos en una fila.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88f566c81_0_22"/>
          <p:cNvSpPr/>
          <p:nvPr/>
        </p:nvSpPr>
        <p:spPr>
          <a:xfrm>
            <a:off x="3291840" y="1691640"/>
            <a:ext cx="2743200" cy="288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8f566c81_0_22"/>
          <p:cNvSpPr/>
          <p:nvPr/>
        </p:nvSpPr>
        <p:spPr>
          <a:xfrm>
            <a:off x="4343400" y="192024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g3f88f566c81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0" y="2029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g3f88f566c81_0_22"/>
          <p:cNvSpPr/>
          <p:nvPr/>
        </p:nvSpPr>
        <p:spPr>
          <a:xfrm>
            <a:off x="3429000" y="26974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Filas que no avanzan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88f566c81_0_22"/>
          <p:cNvSpPr/>
          <p:nvPr/>
        </p:nvSpPr>
        <p:spPr>
          <a:xfrm>
            <a:off x="3474720" y="3108960"/>
            <a:ext cx="2377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 espera genera frustración y dificulta organizar el recorrido de compra de forma óptima.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f88f566c81_0_22"/>
          <p:cNvSpPr/>
          <p:nvPr/>
        </p:nvSpPr>
        <p:spPr>
          <a:xfrm>
            <a:off x="6172200" y="1691640"/>
            <a:ext cx="2743200" cy="288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f88f566c81_0_22"/>
          <p:cNvSpPr/>
          <p:nvPr/>
        </p:nvSpPr>
        <p:spPr>
          <a:xfrm>
            <a:off x="7223760" y="192024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g3f88f566c81_0_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8060" y="2029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f88f566c81_0_22"/>
          <p:cNvSpPr/>
          <p:nvPr/>
        </p:nvSpPr>
        <p:spPr>
          <a:xfrm>
            <a:off x="6309360" y="26974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Picos de demanda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88f566c81_0_22"/>
          <p:cNvSpPr/>
          <p:nvPr/>
        </p:nvSpPr>
        <p:spPr>
          <a:xfrm>
            <a:off x="6355080" y="3108960"/>
            <a:ext cx="2377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 problema se agrava al principio y al final de mes, cuando hay mayor afluencia.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88f566c81_0_4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8f566c81_0_46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f88f566c81_0_4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Fila Fácil es una aplicación móvil que centraliza información útil para decidir dónde y cuándo comprar, reduciendo incertidumbre y tiempo de espera.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f88f566c81_0_46"/>
          <p:cNvSpPr/>
          <p:nvPr/>
        </p:nvSpPr>
        <p:spPr>
          <a:xfrm>
            <a:off x="411480" y="1600200"/>
            <a:ext cx="8321100" cy="9600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88f566c81_0_46"/>
          <p:cNvSpPr/>
          <p:nvPr/>
        </p:nvSpPr>
        <p:spPr>
          <a:xfrm>
            <a:off x="640080" y="1783080"/>
            <a:ext cx="594300" cy="5943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g3f88f566c81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892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f88f566c81_0_46"/>
          <p:cNvSpPr/>
          <p:nvPr/>
        </p:nvSpPr>
        <p:spPr>
          <a:xfrm>
            <a:off x="1417320" y="1728216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Supermercados cercanos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f88f566c81_0_46"/>
          <p:cNvSpPr/>
          <p:nvPr/>
        </p:nvSpPr>
        <p:spPr>
          <a:xfrm>
            <a:off x="1417320" y="2039112"/>
            <a:ext cx="704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Muestra locales próximos según la ubicación del usuario para elegir el más conveniente.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88f566c81_0_46"/>
          <p:cNvSpPr/>
          <p:nvPr/>
        </p:nvSpPr>
        <p:spPr>
          <a:xfrm>
            <a:off x="411480" y="2651760"/>
            <a:ext cx="8321100" cy="9600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88f566c81_0_46"/>
          <p:cNvSpPr/>
          <p:nvPr/>
        </p:nvSpPr>
        <p:spPr>
          <a:xfrm>
            <a:off x="640080" y="2834640"/>
            <a:ext cx="594300" cy="5943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g3f88f566c81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80" y="29443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8f566c81_0_46"/>
          <p:cNvSpPr/>
          <p:nvPr/>
        </p:nvSpPr>
        <p:spPr>
          <a:xfrm>
            <a:off x="1417320" y="2779776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Comentarios de usuarios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8f566c81_0_46"/>
          <p:cNvSpPr/>
          <p:nvPr/>
        </p:nvSpPr>
        <p:spPr>
          <a:xfrm>
            <a:off x="1417320" y="3090672"/>
            <a:ext cx="704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Permite dejar y consultar experiencias sobre espera, atención y afluencia.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88f566c81_0_46"/>
          <p:cNvSpPr/>
          <p:nvPr/>
        </p:nvSpPr>
        <p:spPr>
          <a:xfrm>
            <a:off x="411480" y="3703320"/>
            <a:ext cx="8321100" cy="9600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88f566c81_0_46"/>
          <p:cNvSpPr/>
          <p:nvPr/>
        </p:nvSpPr>
        <p:spPr>
          <a:xfrm>
            <a:off x="640080" y="3886200"/>
            <a:ext cx="594300" cy="5943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g3f88f566c81_0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380" y="3995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f88f566c81_0_46"/>
          <p:cNvSpPr/>
          <p:nvPr/>
        </p:nvSpPr>
        <p:spPr>
          <a:xfrm>
            <a:off x="1417320" y="3831336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Filtros de información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88f566c81_0_46"/>
          <p:cNvSpPr/>
          <p:nvPr/>
        </p:nvSpPr>
        <p:spPr>
          <a:xfrm>
            <a:off x="1417320" y="4142232"/>
            <a:ext cx="704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Ayuda a encontrar rápido lo que se busca: espera percibida, rating o distancia.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8f566c81_0_6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88f566c81_0_68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f88f566c81_0_68"/>
          <p:cNvSpPr/>
          <p:nvPr/>
        </p:nvSpPr>
        <p:spPr>
          <a:xfrm>
            <a:off x="502920" y="1234440"/>
            <a:ext cx="8138100" cy="196590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f88f566c81_0_68"/>
          <p:cNvSpPr/>
          <p:nvPr/>
        </p:nvSpPr>
        <p:spPr>
          <a:xfrm>
            <a:off x="777240" y="155448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g3f88f566c81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6687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f88f566c81_0_68"/>
          <p:cNvSpPr/>
          <p:nvPr/>
        </p:nvSpPr>
        <p:spPr>
          <a:xfrm>
            <a:off x="1600200" y="1463040"/>
            <a:ext cx="6766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Desarrollar un producto funcional de aplicación móvil que permita a usuarios de Santiago consultar supermercados cercanos y comentarios filtrados, con el fin de reducir la incertidumbre y optimizar el tiempo de compra.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88f566c81_0_68"/>
          <p:cNvSpPr/>
          <p:nvPr/>
        </p:nvSpPr>
        <p:spPr>
          <a:xfrm>
            <a:off x="502920" y="33832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Público y contexto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88f566c81_0_68"/>
          <p:cNvSpPr/>
          <p:nvPr/>
        </p:nvSpPr>
        <p:spPr>
          <a:xfrm>
            <a:off x="502920" y="3749040"/>
            <a:ext cx="26976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88f566c81_0_68"/>
          <p:cNvSpPr/>
          <p:nvPr/>
        </p:nvSpPr>
        <p:spPr>
          <a:xfrm>
            <a:off x="640080" y="3858768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88f566c81_0_68"/>
          <p:cNvSpPr/>
          <p:nvPr/>
        </p:nvSpPr>
        <p:spPr>
          <a:xfrm>
            <a:off x="640080" y="4133088"/>
            <a:ext cx="2423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Padres de familia y personas menores de 40 años.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88f566c81_0_68"/>
          <p:cNvSpPr/>
          <p:nvPr/>
        </p:nvSpPr>
        <p:spPr>
          <a:xfrm>
            <a:off x="3337560" y="3749040"/>
            <a:ext cx="26976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88f566c81_0_68"/>
          <p:cNvSpPr/>
          <p:nvPr/>
        </p:nvSpPr>
        <p:spPr>
          <a:xfrm>
            <a:off x="3474720" y="3858768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Lugar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88f566c81_0_68"/>
          <p:cNvSpPr/>
          <p:nvPr/>
        </p:nvSpPr>
        <p:spPr>
          <a:xfrm>
            <a:off x="3474720" y="4133088"/>
            <a:ext cx="2423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Focalizado en Santiago, en periodos de alta afluencia.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88f566c81_0_68"/>
          <p:cNvSpPr/>
          <p:nvPr/>
        </p:nvSpPr>
        <p:spPr>
          <a:xfrm>
            <a:off x="6172200" y="3749040"/>
            <a:ext cx="26976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88f566c81_0_68"/>
          <p:cNvSpPr/>
          <p:nvPr/>
        </p:nvSpPr>
        <p:spPr>
          <a:xfrm>
            <a:off x="6309360" y="3858768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88f566c81_0_68"/>
          <p:cNvSpPr/>
          <p:nvPr/>
        </p:nvSpPr>
        <p:spPr>
          <a:xfrm>
            <a:off x="6309360" y="4133088"/>
            <a:ext cx="2423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MVP funcional desarrollado con metodología ágil.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8f566c81_0_8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88f566c81_0_88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88f566c81_0_88"/>
          <p:cNvSpPr/>
          <p:nvPr/>
        </p:nvSpPr>
        <p:spPr>
          <a:xfrm>
            <a:off x="365760" y="109728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88f566c81_0_88"/>
          <p:cNvSpPr/>
          <p:nvPr/>
        </p:nvSpPr>
        <p:spPr>
          <a:xfrm>
            <a:off x="530352" y="134416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g3f88f566c81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538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f88f566c81_0_88"/>
          <p:cNvSpPr/>
          <p:nvPr/>
        </p:nvSpPr>
        <p:spPr>
          <a:xfrm>
            <a:off x="1234440" y="128016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Mapa de supermercados cercanos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88f566c81_0_88"/>
          <p:cNvSpPr/>
          <p:nvPr/>
        </p:nvSpPr>
        <p:spPr>
          <a:xfrm>
            <a:off x="1234440" y="160020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Consulta de locales próximos según ubicación.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88f566c81_0_88"/>
          <p:cNvSpPr/>
          <p:nvPr/>
        </p:nvSpPr>
        <p:spPr>
          <a:xfrm>
            <a:off x="4754880" y="109728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88f566c81_0_88"/>
          <p:cNvSpPr/>
          <p:nvPr/>
        </p:nvSpPr>
        <p:spPr>
          <a:xfrm>
            <a:off x="4919472" y="134416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g3f88f566c81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4538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88f566c81_0_88"/>
          <p:cNvSpPr/>
          <p:nvPr/>
        </p:nvSpPr>
        <p:spPr>
          <a:xfrm>
            <a:off x="5623560" y="128016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Sistema de comentarios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88f566c81_0_88"/>
          <p:cNvSpPr/>
          <p:nvPr/>
        </p:nvSpPr>
        <p:spPr>
          <a:xfrm>
            <a:off x="5623560" y="160020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Registro y lectura de experiencias de compra.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88f566c81_0_88"/>
          <p:cNvSpPr/>
          <p:nvPr/>
        </p:nvSpPr>
        <p:spPr>
          <a:xfrm>
            <a:off x="365760" y="233172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88f566c81_0_88"/>
          <p:cNvSpPr/>
          <p:nvPr/>
        </p:nvSpPr>
        <p:spPr>
          <a:xfrm>
            <a:off x="530352" y="257860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g3f88f566c81_0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688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f88f566c81_0_88"/>
          <p:cNvSpPr/>
          <p:nvPr/>
        </p:nvSpPr>
        <p:spPr>
          <a:xfrm>
            <a:off x="1234440" y="251460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Filtros de búsqueda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88f566c81_0_88"/>
          <p:cNvSpPr/>
          <p:nvPr/>
        </p:nvSpPr>
        <p:spPr>
          <a:xfrm>
            <a:off x="1234440" y="283464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Espera percibida, valoración y distancia.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88f566c81_0_88"/>
          <p:cNvSpPr/>
          <p:nvPr/>
        </p:nvSpPr>
        <p:spPr>
          <a:xfrm>
            <a:off x="4754880" y="233172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88f566c81_0_88"/>
          <p:cNvSpPr/>
          <p:nvPr/>
        </p:nvSpPr>
        <p:spPr>
          <a:xfrm>
            <a:off x="4919472" y="257860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g3f88f566c81_0_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2688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f88f566c81_0_88"/>
          <p:cNvSpPr/>
          <p:nvPr/>
        </p:nvSpPr>
        <p:spPr>
          <a:xfrm>
            <a:off x="5623560" y="251460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Enfoque en usuarios clave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88f566c81_0_88"/>
          <p:cNvSpPr/>
          <p:nvPr/>
        </p:nvSpPr>
        <p:spPr>
          <a:xfrm>
            <a:off x="5623560" y="283464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Padres de familia y personas menores de 40 años.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88f566c81_0_88"/>
          <p:cNvSpPr/>
          <p:nvPr/>
        </p:nvSpPr>
        <p:spPr>
          <a:xfrm>
            <a:off x="365760" y="356616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88f566c81_0_88"/>
          <p:cNvSpPr/>
          <p:nvPr/>
        </p:nvSpPr>
        <p:spPr>
          <a:xfrm>
            <a:off x="530352" y="381304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g3f88f566c81_0_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3922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f88f566c81_0_88"/>
          <p:cNvSpPr/>
          <p:nvPr/>
        </p:nvSpPr>
        <p:spPr>
          <a:xfrm>
            <a:off x="1234440" y="374904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Producto funcional (MVP)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88f566c81_0_88"/>
          <p:cNvSpPr/>
          <p:nvPr/>
        </p:nvSpPr>
        <p:spPr>
          <a:xfrm>
            <a:off x="1234440" y="406908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Aplicación usable, no solo un diseño conceptual.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f88f566c81_0_88"/>
          <p:cNvSpPr/>
          <p:nvPr/>
        </p:nvSpPr>
        <p:spPr>
          <a:xfrm>
            <a:off x="4754880" y="356616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88f566c81_0_88"/>
          <p:cNvSpPr/>
          <p:nvPr/>
        </p:nvSpPr>
        <p:spPr>
          <a:xfrm>
            <a:off x="4919472" y="381304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g3f88f566c81_0_8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3922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f88f566c81_0_88"/>
          <p:cNvSpPr/>
          <p:nvPr/>
        </p:nvSpPr>
        <p:spPr>
          <a:xfrm>
            <a:off x="5623560" y="374904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Alcance académico controlado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88f566c81_0_88"/>
          <p:cNvSpPr/>
          <p:nvPr/>
        </p:nvSpPr>
        <p:spPr>
          <a:xfrm>
            <a:off x="5623560" y="406908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Prioriza tres funciones de alto valor para el semestre.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8f566c81_0_124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88f566c81_0_124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88f566c81_0_124"/>
          <p:cNvSpPr/>
          <p:nvPr/>
        </p:nvSpPr>
        <p:spPr>
          <a:xfrm>
            <a:off x="36576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88f566c81_0_124"/>
          <p:cNvSpPr/>
          <p:nvPr/>
        </p:nvSpPr>
        <p:spPr>
          <a:xfrm>
            <a:off x="365760" y="109728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88f566c81_0_124"/>
          <p:cNvSpPr/>
          <p:nvPr/>
        </p:nvSpPr>
        <p:spPr>
          <a:xfrm>
            <a:off x="59436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Recursos y escala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88f566c81_0_124"/>
          <p:cNvSpPr/>
          <p:nvPr/>
        </p:nvSpPr>
        <p:spPr>
          <a:xfrm>
            <a:off x="59436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 esta etapa se usan herramientas gratuitas. Para crecer hará falta financiamiento de infraestructura, mantención y difusión.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88f566c81_0_124"/>
          <p:cNvSpPr/>
          <p:nvPr/>
        </p:nvSpPr>
        <p:spPr>
          <a:xfrm>
            <a:off x="365760" y="297180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88f566c81_0_124"/>
          <p:cNvSpPr/>
          <p:nvPr/>
        </p:nvSpPr>
        <p:spPr>
          <a:xfrm>
            <a:off x="365760" y="297180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88f566c81_0_124"/>
          <p:cNvSpPr/>
          <p:nvPr/>
        </p:nvSpPr>
        <p:spPr>
          <a:xfrm>
            <a:off x="594360" y="32461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Alcance del MVP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88f566c81_0_124"/>
          <p:cNvSpPr/>
          <p:nvPr/>
        </p:nvSpPr>
        <p:spPr>
          <a:xfrm>
            <a:off x="594360" y="3611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 incluye pagos, convenios con cadenas ni datos oficiales de afluencia. La información parte de comentarios de usuarios.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88f566c81_0_124"/>
          <p:cNvSpPr/>
          <p:nvPr/>
        </p:nvSpPr>
        <p:spPr>
          <a:xfrm>
            <a:off x="466344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88f566c81_0_124"/>
          <p:cNvSpPr/>
          <p:nvPr/>
        </p:nvSpPr>
        <p:spPr>
          <a:xfrm>
            <a:off x="4663440" y="1097280"/>
            <a:ext cx="4114800" cy="9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88f566c81_0_124"/>
          <p:cNvSpPr/>
          <p:nvPr/>
        </p:nvSpPr>
        <p:spPr>
          <a:xfrm>
            <a:off x="489204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Adopción y confianza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88f566c81_0_124"/>
          <p:cNvSpPr/>
          <p:nvPr/>
        </p:nvSpPr>
        <p:spPr>
          <a:xfrm>
            <a:off x="489204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Aunque el objetivo es que cualquiera pueda usarla, habrá barreras con personas mayores o desconfiadas de las aplicaciones.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88f566c81_0_124"/>
          <p:cNvSpPr/>
          <p:nvPr/>
        </p:nvSpPr>
        <p:spPr>
          <a:xfrm>
            <a:off x="4663440" y="297180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88f566c81_0_124"/>
          <p:cNvSpPr/>
          <p:nvPr/>
        </p:nvSpPr>
        <p:spPr>
          <a:xfrm>
            <a:off x="4663440" y="2971800"/>
            <a:ext cx="4114800" cy="9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88f566c81_0_124"/>
          <p:cNvSpPr/>
          <p:nvPr/>
        </p:nvSpPr>
        <p:spPr>
          <a:xfrm>
            <a:off x="4892040" y="32461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Tiempo académico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88f566c81_0_124"/>
          <p:cNvSpPr/>
          <p:nvPr/>
        </p:nvSpPr>
        <p:spPr>
          <a:xfrm>
            <a:off x="4892040" y="3611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El tiempo</a:t>
            </a: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la curva de aprendizaje de APIs pueden retrasar funciones secundarias.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88f566c81_0_14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88f566c81_0_146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ALCANCES FUTUROS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f88f566c81_0_146"/>
          <p:cNvSpPr/>
          <p:nvPr/>
        </p:nvSpPr>
        <p:spPr>
          <a:xfrm>
            <a:off x="411480" y="105156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88f566c81_0_146"/>
          <p:cNvSpPr/>
          <p:nvPr/>
        </p:nvSpPr>
        <p:spPr>
          <a:xfrm>
            <a:off x="594360" y="125272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88f566c81_0_146"/>
          <p:cNvSpPr/>
          <p:nvPr/>
        </p:nvSpPr>
        <p:spPr>
          <a:xfrm>
            <a:off x="594360" y="128930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88f566c81_0_146"/>
          <p:cNvSpPr/>
          <p:nvPr/>
        </p:nvSpPr>
        <p:spPr>
          <a:xfrm>
            <a:off x="1417320" y="116128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Más ciudades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88f566c81_0_146"/>
          <p:cNvSpPr/>
          <p:nvPr/>
        </p:nvSpPr>
        <p:spPr>
          <a:xfrm>
            <a:off x="1417320" y="147218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Ampliar la cobertura más allá de Santiago, manteniendo el mismo modelo de comentarios y filtros.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88f566c81_0_146"/>
          <p:cNvSpPr/>
          <p:nvPr/>
        </p:nvSpPr>
        <p:spPr>
          <a:xfrm>
            <a:off x="411480" y="201168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88f566c81_0_146"/>
          <p:cNvSpPr/>
          <p:nvPr/>
        </p:nvSpPr>
        <p:spPr>
          <a:xfrm>
            <a:off x="594360" y="221284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88f566c81_0_146"/>
          <p:cNvSpPr/>
          <p:nvPr/>
        </p:nvSpPr>
        <p:spPr>
          <a:xfrm>
            <a:off x="594360" y="224942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88f566c81_0_146"/>
          <p:cNvSpPr/>
          <p:nvPr/>
        </p:nvSpPr>
        <p:spPr>
          <a:xfrm>
            <a:off x="1417320" y="212140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88f566c81_0_146"/>
          <p:cNvSpPr/>
          <p:nvPr/>
        </p:nvSpPr>
        <p:spPr>
          <a:xfrm>
            <a:off x="1417320" y="243230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Avisos por la app cuando un local cercano reporte baja afluencia o alta espera.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88f566c81_0_146"/>
          <p:cNvSpPr/>
          <p:nvPr/>
        </p:nvSpPr>
        <p:spPr>
          <a:xfrm>
            <a:off x="411480" y="297180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88f566c81_0_146"/>
          <p:cNvSpPr/>
          <p:nvPr/>
        </p:nvSpPr>
        <p:spPr>
          <a:xfrm>
            <a:off x="594360" y="317296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88f566c81_0_146"/>
          <p:cNvSpPr/>
          <p:nvPr/>
        </p:nvSpPr>
        <p:spPr>
          <a:xfrm>
            <a:off x="594360" y="320954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88f566c81_0_146"/>
          <p:cNvSpPr/>
          <p:nvPr/>
        </p:nvSpPr>
        <p:spPr>
          <a:xfrm>
            <a:off x="1417320" y="308152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Datos en tiempo real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88f566c81_0_146"/>
          <p:cNvSpPr/>
          <p:nvPr/>
        </p:nvSpPr>
        <p:spPr>
          <a:xfrm>
            <a:off x="1417320" y="339242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Complementar comentarios con estimaciones más precisas de espera, si existen fuentes confiables.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88f566c81_0_146"/>
          <p:cNvSpPr/>
          <p:nvPr/>
        </p:nvSpPr>
        <p:spPr>
          <a:xfrm>
            <a:off x="411480" y="393192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88f566c81_0_146"/>
          <p:cNvSpPr/>
          <p:nvPr/>
        </p:nvSpPr>
        <p:spPr>
          <a:xfrm>
            <a:off x="594360" y="413308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88f566c81_0_146"/>
          <p:cNvSpPr/>
          <p:nvPr/>
        </p:nvSpPr>
        <p:spPr>
          <a:xfrm>
            <a:off x="594360" y="416966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88f566c81_0_146"/>
          <p:cNvSpPr/>
          <p:nvPr/>
        </p:nvSpPr>
        <p:spPr>
          <a:xfrm>
            <a:off x="1417320" y="404164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Alianzas y escala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88f566c81_0_146"/>
          <p:cNvSpPr/>
          <p:nvPr/>
        </p:nvSpPr>
        <p:spPr>
          <a:xfrm>
            <a:off x="1417320" y="435254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Integración con cadenas o municipios y financiamiento para infraestructura cuando el MVP esté validado.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9371336a_0_3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89371336a_0_3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PROCESOS DE NEGOCIO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g3f89371336a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650" y="866175"/>
            <a:ext cx="7775724" cy="427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9371336a_0_72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89371336a_0_72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PROCESOS DE NEGOCIO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g3f89371336a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725" y="822900"/>
            <a:ext cx="6266635" cy="432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9371336a_0_7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89371336a_0_79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PROCESOS DE NEGOCIO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g3f89371336a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50" y="822900"/>
            <a:ext cx="6685128" cy="432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9371336a_0_8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89371336a_0_88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METODOLOGIA SCRUM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89371336a_0_88"/>
          <p:cNvSpPr/>
          <p:nvPr/>
        </p:nvSpPr>
        <p:spPr>
          <a:xfrm>
            <a:off x="36576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89371336a_0_88"/>
          <p:cNvSpPr/>
          <p:nvPr/>
        </p:nvSpPr>
        <p:spPr>
          <a:xfrm>
            <a:off x="365760" y="109728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f89371336a_0_88"/>
          <p:cNvSpPr/>
          <p:nvPr/>
        </p:nvSpPr>
        <p:spPr>
          <a:xfrm>
            <a:off x="59436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89371336a_0_88"/>
          <p:cNvSpPr/>
          <p:nvPr/>
        </p:nvSpPr>
        <p:spPr>
          <a:xfrm>
            <a:off x="59436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Identificación, descripción y priorización de requerimientos del MVP orientados al valor del usuario final.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89371336a_0_88"/>
          <p:cNvSpPr/>
          <p:nvPr/>
        </p:nvSpPr>
        <p:spPr>
          <a:xfrm>
            <a:off x="365760" y="297180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89371336a_0_88"/>
          <p:cNvSpPr/>
          <p:nvPr/>
        </p:nvSpPr>
        <p:spPr>
          <a:xfrm>
            <a:off x="365760" y="297180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89371336a_0_88"/>
          <p:cNvSpPr/>
          <p:nvPr/>
        </p:nvSpPr>
        <p:spPr>
          <a:xfrm>
            <a:off x="594360" y="32461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E293B"/>
                </a:solidFill>
              </a:rPr>
              <a:t>Revisión y Entrega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89371336a_0_88"/>
          <p:cNvSpPr/>
          <p:nvPr/>
        </p:nvSpPr>
        <p:spPr>
          <a:xfrm>
            <a:off x="594360" y="3611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Verificación continua del funcionamiento del aplicativo y ajuste de requerimientos según validación.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89371336a_0_88"/>
          <p:cNvSpPr/>
          <p:nvPr/>
        </p:nvSpPr>
        <p:spPr>
          <a:xfrm>
            <a:off x="466344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89371336a_0_88"/>
          <p:cNvSpPr/>
          <p:nvPr/>
        </p:nvSpPr>
        <p:spPr>
          <a:xfrm>
            <a:off x="489204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Sprints Iterativos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89371336a_0_88"/>
          <p:cNvSpPr/>
          <p:nvPr/>
        </p:nvSpPr>
        <p:spPr>
          <a:xfrm>
            <a:off x="489204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Ciclos cortos de trabajo enfocados en construir de manera incremental la interfaz, bases de datos y servicios.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89371336a_0_88"/>
          <p:cNvSpPr/>
          <p:nvPr/>
        </p:nvSpPr>
        <p:spPr>
          <a:xfrm>
            <a:off x="4663460" y="105150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9371336a_0_12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89371336a_0_120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PRODUCT BACKLOG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g3f89371336a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2900"/>
            <a:ext cx="9143998" cy="4276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9371336a_0_14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89371336a_0_140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HISTORIAS DE USUARIO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f89371336a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875" y="822900"/>
            <a:ext cx="6029024" cy="39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9371336a_0_14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89371336a_0_149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HISTORIAS DE USUARIO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3f89371336a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75" y="822900"/>
            <a:ext cx="8045450" cy="43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40fa612da_0_0"/>
          <p:cNvSpPr/>
          <p:nvPr/>
        </p:nvSpPr>
        <p:spPr>
          <a:xfrm>
            <a:off x="0" y="0"/>
            <a:ext cx="91440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9" name="Google Shape;249;g3f40fa612da_0_0"/>
          <p:cNvGraphicFramePr/>
          <p:nvPr/>
        </p:nvGraphicFramePr>
        <p:xfrm>
          <a:off x="0" y="43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{4A325E98-A941-47EA-B277-20C3A44E9DC7}</a:tableStyleId>
              </a:tblPr>
              <a:tblGrid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187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Acciones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Reunión de inicio (Kickoff)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Configuración del entorno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Desarrollo de la idea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Presentación de la idea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Iniciar procesos del equipo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Capacitación y planificación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Iniciar desarrollo de app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Iniciar documentación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Refinamiento del Backlog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Fomentar buen comportamiento del equipo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Desarrollo y Documentación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1ra Presentación de app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Planificación de la liberación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Refinamiento del Backlog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Desarrollo continuo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2da Presentación de app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Entrega del software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Liberación a clientes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Últimas mejoras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Presentación final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95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(Fases)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0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1-4 (Fase 1)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1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5-7 (Fase 2)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2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8-9 (Fase 2)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3-4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10-15 (Fase 2)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Final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16-18 (Fase 3)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131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Herramientas de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Implementación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Evaluación inicial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Creación del Backlog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Diseño de Arquitectura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Planificación del Sprint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Revisiones de código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Integración Continua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Pruebas / QA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Revisiones del Sprint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Herramientas de despliegue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Pruebas de aceptación del usuario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Retrospectiva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5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Entregable / Hito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Validación de Idea y Kickoff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Prototipo Inicial / Cimientos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Versión MVP (1ra Revisión)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Versión Beta (2da Revisión)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Liberación Completa (Final)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g3f40fa612da_0_0"/>
          <p:cNvSpPr/>
          <p:nvPr/>
        </p:nvSpPr>
        <p:spPr>
          <a:xfrm>
            <a:off x="0" y="0"/>
            <a:ext cx="914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PLAN DE </a:t>
            </a:r>
            <a:r>
              <a:rPr b="1" lang="en-US" sz="2400">
                <a:solidFill>
                  <a:srgbClr val="FFFFFF"/>
                </a:solidFill>
              </a:rPr>
              <a:t>LIBERACIÓN</a:t>
            </a:r>
            <a:r>
              <a:rPr b="1" lang="en-US" sz="2400">
                <a:solidFill>
                  <a:srgbClr val="FFFFFF"/>
                </a:solidFill>
              </a:rPr>
              <a:t> POR SPRINT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40c3d1ae8_1_3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40c3d1ae8_1_3"/>
          <p:cNvSpPr/>
          <p:nvPr/>
        </p:nvSpPr>
        <p:spPr>
          <a:xfrm>
            <a:off x="88324" y="822900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f40c3d1ae8_1_3"/>
          <p:cNvSpPr/>
          <p:nvPr/>
        </p:nvSpPr>
        <p:spPr>
          <a:xfrm>
            <a:off x="1776078" y="3036002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g3f40c3d1ae8_1_3"/>
          <p:cNvSpPr/>
          <p:nvPr/>
        </p:nvSpPr>
        <p:spPr>
          <a:xfrm>
            <a:off x="3176659" y="822900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g3f40c3d1ae8_1_3"/>
          <p:cNvSpPr/>
          <p:nvPr/>
        </p:nvSpPr>
        <p:spPr>
          <a:xfrm>
            <a:off x="5308281" y="3036002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g3f40c3d1ae8_1_3"/>
          <p:cNvSpPr/>
          <p:nvPr/>
        </p:nvSpPr>
        <p:spPr>
          <a:xfrm>
            <a:off x="6264346" y="822900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g3f40c3d1ae8_1_3"/>
          <p:cNvSpPr txBox="1"/>
          <p:nvPr/>
        </p:nvSpPr>
        <p:spPr>
          <a:xfrm>
            <a:off x="1140145" y="136350"/>
            <a:ext cx="68637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1" i="0" lang="en-US" sz="3575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TECNOLOGIAS UTILIZADAS</a:t>
            </a:r>
            <a:endParaRPr b="0" i="0" sz="7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40c3d1ae8_1_3"/>
          <p:cNvSpPr txBox="1"/>
          <p:nvPr/>
        </p:nvSpPr>
        <p:spPr>
          <a:xfrm>
            <a:off x="532193" y="1094165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BACKEND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40c3d1ae8_1_3"/>
          <p:cNvSpPr txBox="1"/>
          <p:nvPr/>
        </p:nvSpPr>
        <p:spPr>
          <a:xfrm>
            <a:off x="2219947" y="3307268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DESPLIEGUE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f40c3d1ae8_1_3"/>
          <p:cNvSpPr txBox="1"/>
          <p:nvPr/>
        </p:nvSpPr>
        <p:spPr>
          <a:xfrm>
            <a:off x="3620528" y="1094165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FRONTEND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40c3d1ae8_1_3"/>
          <p:cNvSpPr txBox="1"/>
          <p:nvPr/>
        </p:nvSpPr>
        <p:spPr>
          <a:xfrm>
            <a:off x="5783570" y="3093566"/>
            <a:ext cx="19122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b="0" i="0" lang="en-US" sz="1933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CONTROL DE VERSIONES</a:t>
            </a:r>
            <a:endParaRPr b="0" i="0" sz="3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40c3d1ae8_1_3"/>
          <p:cNvSpPr txBox="1"/>
          <p:nvPr/>
        </p:nvSpPr>
        <p:spPr>
          <a:xfrm>
            <a:off x="6708215" y="1094165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 DATOS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40c3d1ae8_1_3"/>
          <p:cNvSpPr txBox="1"/>
          <p:nvPr/>
        </p:nvSpPr>
        <p:spPr>
          <a:xfrm>
            <a:off x="629803" y="1437247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Python/FastAPI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f40c3d1ae8_1_3"/>
          <p:cNvSpPr txBox="1"/>
          <p:nvPr/>
        </p:nvSpPr>
        <p:spPr>
          <a:xfrm>
            <a:off x="3730364" y="1437247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lang="en-US" sz="884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React </a:t>
            </a:r>
            <a:r>
              <a:rPr lang="en-US" sz="884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Native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40c3d1ae8_1_3"/>
          <p:cNvSpPr/>
          <p:nvPr/>
        </p:nvSpPr>
        <p:spPr>
          <a:xfrm>
            <a:off x="7150742" y="1747814"/>
            <a:ext cx="1219532" cy="1257642"/>
          </a:xfrm>
          <a:custGeom>
            <a:rect b="b" l="l" r="r" t="t"/>
            <a:pathLst>
              <a:path extrusionOk="0" h="2087372" w="2024119">
                <a:moveTo>
                  <a:pt x="0" y="0"/>
                </a:moveTo>
                <a:lnTo>
                  <a:pt x="2024119" y="0"/>
                </a:lnTo>
                <a:lnTo>
                  <a:pt x="2024119" y="2087372"/>
                </a:lnTo>
                <a:lnTo>
                  <a:pt x="0" y="2087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g3f40c3d1ae8_1_3"/>
          <p:cNvSpPr txBox="1"/>
          <p:nvPr/>
        </p:nvSpPr>
        <p:spPr>
          <a:xfrm>
            <a:off x="6850118" y="1437247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PostgreSQL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40c3d1ae8_1_3"/>
          <p:cNvSpPr/>
          <p:nvPr/>
        </p:nvSpPr>
        <p:spPr>
          <a:xfrm>
            <a:off x="2657456" y="3971605"/>
            <a:ext cx="1117111" cy="1117111"/>
          </a:xfrm>
          <a:custGeom>
            <a:rect b="b" l="l" r="r" t="t"/>
            <a:pathLst>
              <a:path extrusionOk="0" h="1854126" w="1854126">
                <a:moveTo>
                  <a:pt x="0" y="0"/>
                </a:moveTo>
                <a:lnTo>
                  <a:pt x="1854126" y="0"/>
                </a:lnTo>
                <a:lnTo>
                  <a:pt x="1854126" y="1854125"/>
                </a:lnTo>
                <a:lnTo>
                  <a:pt x="0" y="1854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g3f40c3d1ae8_1_3"/>
          <p:cNvSpPr txBox="1"/>
          <p:nvPr/>
        </p:nvSpPr>
        <p:spPr>
          <a:xfrm>
            <a:off x="2330430" y="3692730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Cloud Run/GCloud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40c3d1ae8_1_3"/>
          <p:cNvSpPr txBox="1"/>
          <p:nvPr/>
        </p:nvSpPr>
        <p:spPr>
          <a:xfrm>
            <a:off x="5862633" y="3744039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GitHu</a:t>
            </a:r>
            <a:r>
              <a:rPr lang="en-US" sz="884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f40c3d1ae8_1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977" y="1780453"/>
            <a:ext cx="1060564" cy="106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f40c3d1ae8_1_3"/>
          <p:cNvPicPr preferRelativeResize="0"/>
          <p:nvPr/>
        </p:nvPicPr>
        <p:blipFill rotWithShape="1">
          <a:blip r:embed="rId7">
            <a:alphaModFix/>
          </a:blip>
          <a:srcRect b="24709" l="30143" r="27969" t="16598"/>
          <a:stretch/>
        </p:blipFill>
        <p:spPr>
          <a:xfrm>
            <a:off x="4072500" y="1846348"/>
            <a:ext cx="1235772" cy="106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f40c3d1ae8_1_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1113" y="3971600"/>
            <a:ext cx="1117125" cy="11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f883913c8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25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f883913c82_0_0"/>
          <p:cNvSpPr txBox="1"/>
          <p:nvPr/>
        </p:nvSpPr>
        <p:spPr>
          <a:xfrm>
            <a:off x="6012675" y="13"/>
            <a:ext cx="31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44"/>
              <a:buFont typeface="Arial"/>
              <a:buNone/>
            </a:pPr>
            <a:r>
              <a:rPr b="1" i="0" lang="en-US" sz="3000" u="none" cap="none" strike="noStrike">
                <a:solidFill>
                  <a:srgbClr val="7ED957"/>
                </a:solidFill>
                <a:latin typeface="Barlow"/>
                <a:ea typeface="Barlow"/>
                <a:cs typeface="Barlow"/>
                <a:sym typeface="Barlow"/>
              </a:rPr>
              <a:t>MODELO DE DATOS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83913c82_0_49"/>
          <p:cNvSpPr/>
          <p:nvPr/>
        </p:nvSpPr>
        <p:spPr>
          <a:xfrm>
            <a:off x="0" y="0"/>
            <a:ext cx="2514000" cy="5191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883913c82_0_49"/>
          <p:cNvSpPr/>
          <p:nvPr/>
        </p:nvSpPr>
        <p:spPr>
          <a:xfrm>
            <a:off x="457200" y="228600"/>
            <a:ext cx="231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EVIDENCIA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291" name="Google Shape;291;g3f883913c82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975" y="-24000"/>
            <a:ext cx="2398039" cy="519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83913c82_0_56"/>
          <p:cNvSpPr/>
          <p:nvPr/>
        </p:nvSpPr>
        <p:spPr>
          <a:xfrm>
            <a:off x="0" y="0"/>
            <a:ext cx="2514000" cy="5191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883913c82_0_56"/>
          <p:cNvSpPr/>
          <p:nvPr/>
        </p:nvSpPr>
        <p:spPr>
          <a:xfrm>
            <a:off x="457200" y="228600"/>
            <a:ext cx="231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EVIDENCIA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299" name="Google Shape;299;g3f883913c82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988" y="0"/>
            <a:ext cx="2398012" cy="519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83913c82_0_29"/>
          <p:cNvSpPr/>
          <p:nvPr/>
        </p:nvSpPr>
        <p:spPr>
          <a:xfrm>
            <a:off x="0" y="0"/>
            <a:ext cx="2514000" cy="5191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883913c82_0_29"/>
          <p:cNvSpPr/>
          <p:nvPr/>
        </p:nvSpPr>
        <p:spPr>
          <a:xfrm>
            <a:off x="457200" y="228600"/>
            <a:ext cx="231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EVIDENCIA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307" name="Google Shape;307;g3f883913c82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988" y="0"/>
            <a:ext cx="2398012" cy="519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3975000" y="272850"/>
            <a:ext cx="1194000" cy="11886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4632" y="501451"/>
            <a:ext cx="734823" cy="73152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/>
          <p:cNvSpPr/>
          <p:nvPr/>
        </p:nvSpPr>
        <p:spPr>
          <a:xfrm>
            <a:off x="1371600" y="2000013"/>
            <a:ext cx="6400800" cy="26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1" lang="en-US" sz="1600">
                <a:solidFill>
                  <a:schemeClr val="accent6"/>
                </a:solidFill>
              </a:rPr>
              <a:t>Ingeniería Informática</a:t>
            </a:r>
            <a:endParaRPr b="1" sz="1600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6"/>
                </a:solidFill>
              </a:rPr>
              <a:t>Escuela de Informática y Telecomunicaciones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6"/>
                </a:solidFill>
              </a:rPr>
              <a:t>Sede Maipú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lang="en-US">
                <a:solidFill>
                  <a:schemeClr val="accent6"/>
                </a:solidFill>
              </a:rPr>
              <a:t>2026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lang="en-US">
                <a:solidFill>
                  <a:schemeClr val="accent6"/>
                </a:solidFill>
              </a:rPr>
              <a:t>Docente Instructor de la Asignatura: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Jorge Guzmán Bozo</a:t>
            </a:r>
            <a:endParaRPr u="sng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Integrantes del Equipo: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Gonzalo Guerrero</a:t>
            </a:r>
            <a:endParaRPr u="sng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Ariel Rivas</a:t>
            </a:r>
            <a:endParaRPr u="sng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Cristobal Trigo</a:t>
            </a:r>
            <a:endParaRPr u="sng">
              <a:solidFill>
                <a:schemeClr val="accent6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8979400" y="0"/>
            <a:ext cx="1647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2026-08-23T01:06:02Z</dcterms:created>
  <dc:creator>Proyecto Universitario</dc:creator>
</cp:coreProperties>
</file>